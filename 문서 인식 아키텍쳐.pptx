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2196A-1DD5-670D-6D99-AFF04B7B7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841149-CAAA-2A46-1F4C-911CB8547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59507F-AF6E-FAAA-DA0C-BC2F52B5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02B61D-D09A-F322-2897-46EED2AB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CEF9C-EC82-9BB9-497D-95908B3D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03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62404-56C0-E038-7117-80844128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30CCE-9D21-DEAD-396E-E4101053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FC797-446D-E65D-D960-54868EF5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4411-70EB-AD55-FB92-195128D8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90BBD-508B-B5CD-5A63-B75D43A5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76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287AE-F590-DBFD-B946-54E0A93C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2D8CA-EDD9-4074-4866-DA0B67A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CACD74-1CCB-2998-2687-D176FB75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355BB-55B4-E368-3D37-AA142163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DCB55-8517-F26F-C2C0-468D6837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90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DE411-51EA-7E1A-8008-0C8B7F56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A0BDDB-883A-C439-68DA-671965A97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94F3DE-9726-39C4-6CAC-4A3A1A8C4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2BC1F0-137B-C113-6AA5-2E8C5DA4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6695F-1A65-8CD7-1750-54CB4681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316955-5B56-A905-6442-371BB95D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81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F3680-333C-EB2E-4FAD-092BC6B3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A93A6A-680E-32C0-E1D6-BF9FF6660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0A733C-1DB6-8755-A02B-E199570B1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824B9F-60D7-7DA5-A16D-655C135FC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F5F9C9-C152-A27F-11E5-400024FE4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12B671-A22E-1BA3-58C2-CE4A071B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7F173B-2A2E-0373-0772-6B0A387A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8C89F9-39BA-7D47-F15E-312A3472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21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087FA-F9C3-8338-ED69-34E63E27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7DD806-F9E2-DCE8-F64B-8B74A724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2C6BBB-DF50-E8C4-2C13-BD0297AF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B3889E-8FFC-B8C2-69BE-C5DE2469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83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AA98BA-B607-0B7C-547A-62AE803F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D74A0B-61DE-283B-0B9D-168F4BFA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D9D20-3252-5986-4EFC-F11B07F5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5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8D525-A691-FD2A-C733-18041343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A8D40-833D-BC20-E7BA-8C05AE325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4D12FF-99C6-B59C-5F25-00DE330A5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C1E354-A66E-9104-B5F3-CBC940B4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0D0E8-4807-46EA-113A-5EFA1155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A42352-53C8-A216-4155-79BB637E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96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E534D-E457-5DAC-7377-4A7EC930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EB1949-D176-96A4-C91A-FC8D5B99E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D03AC0-D5D5-FFEC-0216-B7D63866E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D6FBD4-D015-2AAF-0EDE-810493E7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D4D61-D12B-1A4A-5601-AEAA3D0E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D9D250-D345-3DD9-09BF-F4423EF3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302C5-BCEB-91CB-71DE-B9E14287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6EA934-F348-43C3-9C99-3DC7F3228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55F5C-3117-D63B-9CB7-98AC30CB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B5CFE-2D5C-7E63-FA45-EA1B2C1C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316F74-AC9C-5831-DCAD-73A1252A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03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985B04-BCFA-5F4D-01E6-73F626C33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BA2993-E5DD-1E74-4A29-1DC62300D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7BC68-8468-8D02-8838-E17008E5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30FC10-61A5-8BF1-57F2-6F70A986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296001-3C87-75F8-016F-D12196FC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38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236970-C222-044E-51ED-A6446F07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D5428-0763-A3A1-48AC-EDAEEC5B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D1B3D-BB4F-6737-C728-BEF53397C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7286D-B935-5BCA-0DDC-ADDF1A49B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67DDAF-866C-FE7F-537D-340C6891E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7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uter Vision — Scale Invariant Feature Transform (SIFT) | by Ray ...">
            <a:extLst>
              <a:ext uri="{FF2B5EF4-FFF2-40B4-BE49-F238E27FC236}">
                <a16:creationId xmlns:a16="http://schemas.microsoft.com/office/drawing/2014/main" id="{03820B0F-ABBE-2E88-CAA2-EE4BBD8DC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074" y="1220137"/>
            <a:ext cx="2075201" cy="332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mputer Vision — Scale Invariant Feature Transform (SIFT) | by Ray ...">
            <a:extLst>
              <a:ext uri="{FF2B5EF4-FFF2-40B4-BE49-F238E27FC236}">
                <a16:creationId xmlns:a16="http://schemas.microsoft.com/office/drawing/2014/main" id="{CF6858F0-BAC6-A296-2F62-C58316003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61" b="74060"/>
          <a:stretch>
            <a:fillRect/>
          </a:stretch>
        </p:blipFill>
        <p:spPr bwMode="auto">
          <a:xfrm>
            <a:off x="889532" y="1539258"/>
            <a:ext cx="828804" cy="86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7D20A09-1D7D-F023-6F55-A95780460D96}"/>
              </a:ext>
            </a:extLst>
          </p:cNvPr>
          <p:cNvSpPr/>
          <p:nvPr/>
        </p:nvSpPr>
        <p:spPr>
          <a:xfrm>
            <a:off x="2172466" y="1798114"/>
            <a:ext cx="583007" cy="31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2C655-7588-4948-D033-38074A7C7226}"/>
              </a:ext>
            </a:extLst>
          </p:cNvPr>
          <p:cNvSpPr txBox="1"/>
          <p:nvPr/>
        </p:nvSpPr>
        <p:spPr>
          <a:xfrm>
            <a:off x="889532" y="1123055"/>
            <a:ext cx="109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BF412-C384-5505-3002-4426E64C6415}"/>
              </a:ext>
            </a:extLst>
          </p:cNvPr>
          <p:cNvSpPr txBox="1"/>
          <p:nvPr/>
        </p:nvSpPr>
        <p:spPr>
          <a:xfrm>
            <a:off x="2902759" y="76711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DownSampling</a:t>
            </a:r>
            <a:r>
              <a:rPr lang="en-US" altLang="ko-KR" dirty="0"/>
              <a:t> &amp; Blur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FB789-EA53-AEF3-2393-42565FE4476B}"/>
              </a:ext>
            </a:extLst>
          </p:cNvPr>
          <p:cNvSpPr txBox="1"/>
          <p:nvPr/>
        </p:nvSpPr>
        <p:spPr>
          <a:xfrm>
            <a:off x="2043590" y="4624149"/>
            <a:ext cx="510591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DownSampling</a:t>
            </a:r>
            <a:r>
              <a:rPr lang="en-US" altLang="ko-KR" sz="1400" dirty="0"/>
              <a:t> : </a:t>
            </a:r>
            <a:r>
              <a:rPr lang="ko-KR" altLang="en-US" sz="1400" dirty="0"/>
              <a:t>영상 크기가 다를 수 있기 때문에</a:t>
            </a:r>
            <a:endParaRPr lang="en-US" altLang="ko-KR" sz="1400" dirty="0"/>
          </a:p>
          <a:p>
            <a:r>
              <a:rPr lang="en-US" altLang="ko-KR" sz="1400" dirty="0"/>
              <a:t>Blur : </a:t>
            </a:r>
            <a:r>
              <a:rPr lang="ko-KR" altLang="en-US" sz="1400" dirty="0"/>
              <a:t>실제 영상은 노이즈나 </a:t>
            </a:r>
            <a:r>
              <a:rPr lang="ko-KR" altLang="en-US" sz="1400" dirty="0" err="1"/>
              <a:t>블러가</a:t>
            </a:r>
            <a:r>
              <a:rPr lang="ko-KR" altLang="en-US" sz="1400" dirty="0"/>
              <a:t> 있기 때문에</a:t>
            </a:r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F971FA0-A635-541E-BC31-CA4E0308D5FD}"/>
              </a:ext>
            </a:extLst>
          </p:cNvPr>
          <p:cNvSpPr/>
          <p:nvPr/>
        </p:nvSpPr>
        <p:spPr>
          <a:xfrm>
            <a:off x="5814302" y="1824573"/>
            <a:ext cx="583007" cy="31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DECA17-A451-09A5-450F-6D4DCDA423E4}"/>
              </a:ext>
            </a:extLst>
          </p:cNvPr>
          <p:cNvSpPr/>
          <p:nvPr/>
        </p:nvSpPr>
        <p:spPr>
          <a:xfrm>
            <a:off x="6667013" y="1613964"/>
            <a:ext cx="1521955" cy="71188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ResNet50</a:t>
            </a:r>
            <a:endParaRPr lang="ko-KR" altLang="en-US" dirty="0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0391722-5C17-A6B9-B681-162D14901788}"/>
              </a:ext>
            </a:extLst>
          </p:cNvPr>
          <p:cNvSpPr/>
          <p:nvPr/>
        </p:nvSpPr>
        <p:spPr>
          <a:xfrm>
            <a:off x="8593301" y="1798113"/>
            <a:ext cx="583007" cy="31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E5271-7F80-E0EA-A26B-BA748998A6E5}"/>
              </a:ext>
            </a:extLst>
          </p:cNvPr>
          <p:cNvSpPr txBox="1"/>
          <p:nvPr/>
        </p:nvSpPr>
        <p:spPr>
          <a:xfrm>
            <a:off x="279071" y="126768"/>
            <a:ext cx="19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Camera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A172BC-E8D3-3013-C7FD-8DC03A35D254}"/>
              </a:ext>
            </a:extLst>
          </p:cNvPr>
          <p:cNvSpPr txBox="1"/>
          <p:nvPr/>
        </p:nvSpPr>
        <p:spPr>
          <a:xfrm>
            <a:off x="9364927" y="1785239"/>
            <a:ext cx="270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Detection Result : Cat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0F519DE-41B7-2AEA-D5EB-84D46D3515DA}"/>
              </a:ext>
            </a:extLst>
          </p:cNvPr>
          <p:cNvSpPr/>
          <p:nvPr/>
        </p:nvSpPr>
        <p:spPr>
          <a:xfrm>
            <a:off x="441857" y="613691"/>
            <a:ext cx="11525122" cy="4719286"/>
          </a:xfrm>
          <a:prstGeom prst="round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565E99-E421-8038-905A-BE55B92A0380}"/>
              </a:ext>
            </a:extLst>
          </p:cNvPr>
          <p:cNvSpPr txBox="1"/>
          <p:nvPr/>
        </p:nvSpPr>
        <p:spPr>
          <a:xfrm>
            <a:off x="193154" y="5502845"/>
            <a:ext cx="8622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문서에도 적용해서 </a:t>
            </a:r>
            <a:r>
              <a:rPr lang="en-US" altLang="ko-KR" dirty="0"/>
              <a:t>OCR</a:t>
            </a:r>
            <a:r>
              <a:rPr lang="ko-KR" altLang="en-US" dirty="0"/>
              <a:t> 직접 구현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서버에 적용할 경우 </a:t>
            </a:r>
            <a:r>
              <a:rPr lang="en-US" altLang="ko-KR" dirty="0"/>
              <a:t>GPU </a:t>
            </a:r>
            <a:r>
              <a:rPr lang="ko-KR" altLang="en-US" dirty="0"/>
              <a:t>비용 및 긴 추론시간이라는 단점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테스트 결과 작은 글씨의 경우 </a:t>
            </a:r>
            <a:r>
              <a:rPr lang="en-US" altLang="ko-KR" dirty="0"/>
              <a:t>Blur</a:t>
            </a:r>
            <a:r>
              <a:rPr lang="ko-KR" altLang="en-US" dirty="0"/>
              <a:t>처리되며 오히려 </a:t>
            </a:r>
            <a:r>
              <a:rPr lang="en-US" altLang="ko-KR" dirty="0"/>
              <a:t>Spatial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분석 방해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A9A9347-675F-8639-B3F2-5DC0B0C73DA9}"/>
              </a:ext>
            </a:extLst>
          </p:cNvPr>
          <p:cNvSpPr/>
          <p:nvPr/>
        </p:nvSpPr>
        <p:spPr>
          <a:xfrm>
            <a:off x="8479767" y="5684315"/>
            <a:ext cx="774697" cy="355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BC799A-625C-2347-4C29-A29C2A8C992A}"/>
              </a:ext>
            </a:extLst>
          </p:cNvPr>
          <p:cNvSpPr txBox="1"/>
          <p:nvPr/>
        </p:nvSpPr>
        <p:spPr>
          <a:xfrm>
            <a:off x="9364927" y="5489908"/>
            <a:ext cx="2915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다른 방안 필요</a:t>
            </a:r>
            <a:endParaRPr lang="en-US" altLang="ko-KR" dirty="0"/>
          </a:p>
          <a:p>
            <a:r>
              <a:rPr lang="ko-KR" altLang="en-US" dirty="0"/>
              <a:t>카메라도 </a:t>
            </a:r>
            <a:r>
              <a:rPr lang="en-US" altLang="ko-KR" dirty="0"/>
              <a:t>Plane warping</a:t>
            </a:r>
            <a:r>
              <a:rPr lang="ko-KR" altLang="en-US" dirty="0"/>
              <a:t>만 잘하면 </a:t>
            </a:r>
            <a:r>
              <a:rPr lang="en-US" altLang="ko-KR" dirty="0"/>
              <a:t>OCR</a:t>
            </a:r>
            <a:r>
              <a:rPr lang="ko-KR" altLang="en-US" dirty="0"/>
              <a:t>적용 가능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E2C2A72-7FC2-70B9-AB1A-BD80B685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324" y="3158680"/>
            <a:ext cx="3723060" cy="924669"/>
          </a:xfrm>
          <a:prstGeom prst="rect">
            <a:avLst/>
          </a:prstGeom>
        </p:spPr>
      </p:pic>
      <p:sp>
        <p:nvSpPr>
          <p:cNvPr id="27" name="화살표: 위쪽 26">
            <a:extLst>
              <a:ext uri="{FF2B5EF4-FFF2-40B4-BE49-F238E27FC236}">
                <a16:creationId xmlns:a16="http://schemas.microsoft.com/office/drawing/2014/main" id="{D085CD0E-E076-BA1A-DD81-98AC6FFFEF59}"/>
              </a:ext>
            </a:extLst>
          </p:cNvPr>
          <p:cNvSpPr/>
          <p:nvPr/>
        </p:nvSpPr>
        <p:spPr>
          <a:xfrm>
            <a:off x="7223146" y="2475263"/>
            <a:ext cx="362078" cy="5819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709A05-9440-2D13-5F3F-DFB89B70D0B1}"/>
              </a:ext>
            </a:extLst>
          </p:cNvPr>
          <p:cNvSpPr txBox="1"/>
          <p:nvPr/>
        </p:nvSpPr>
        <p:spPr>
          <a:xfrm>
            <a:off x="6397308" y="4140703"/>
            <a:ext cx="4882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연령별 필기체</a:t>
            </a:r>
            <a:r>
              <a:rPr lang="en-US" altLang="ko-KR" sz="1400" dirty="0"/>
              <a:t>, </a:t>
            </a:r>
            <a:r>
              <a:rPr lang="ko-KR" altLang="en-US" sz="1400" dirty="0"/>
              <a:t>행정서식별 인쇄체를 고려한 데이터셋</a:t>
            </a:r>
            <a:endParaRPr lang="en-US" altLang="ko-KR" sz="1400" dirty="0"/>
          </a:p>
          <a:p>
            <a:r>
              <a:rPr lang="ko-KR" altLang="en-US" sz="1400" dirty="0"/>
              <a:t>학습된 모델을 가져와서 </a:t>
            </a:r>
            <a:r>
              <a:rPr lang="en-US" altLang="ko-KR" sz="1400" dirty="0"/>
              <a:t>Fine-tuning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520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74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황규철</dc:creator>
  <cp:lastModifiedBy>황규철</cp:lastModifiedBy>
  <cp:revision>3</cp:revision>
  <dcterms:created xsi:type="dcterms:W3CDTF">2025-12-01T12:41:20Z</dcterms:created>
  <dcterms:modified xsi:type="dcterms:W3CDTF">2025-12-01T13:08:45Z</dcterms:modified>
</cp:coreProperties>
</file>